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0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631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21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4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0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77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9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24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390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090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653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092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49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333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69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484212-F42F-4A1C-9BE6-A7D649006C01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DF7A7-2F05-4215-8C1A-84402D9C9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43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8B61-B379-DC96-8635-F75ED3EF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9216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ADVANCED SCIENTIFIC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875EF-1F41-900B-4DA5-363A84891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1687"/>
            <a:ext cx="9144000" cy="3957637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Technologies Used:</a:t>
            </a:r>
            <a:br>
              <a:rPr lang="en-IN" sz="2800" dirty="0"/>
            </a:br>
            <a:r>
              <a:rPr lang="en-IN" sz="2800" dirty="0"/>
              <a:t>Python | </a:t>
            </a:r>
            <a:r>
              <a:rPr lang="en-IN" sz="2800" dirty="0" err="1"/>
              <a:t>Tkinter</a:t>
            </a:r>
            <a:r>
              <a:rPr lang="en-IN" sz="2800" dirty="0"/>
              <a:t> | NumPy | Matplotlib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Presented By:</a:t>
            </a:r>
          </a:p>
          <a:p>
            <a:pPr algn="l"/>
            <a:r>
              <a:rPr lang="en-IN" sz="2800" dirty="0"/>
              <a:t>Neelam S Upadhyay</a:t>
            </a:r>
          </a:p>
        </p:txBody>
      </p:sp>
    </p:spTree>
    <p:extLst>
      <p:ext uri="{BB962C8B-B14F-4D97-AF65-F5344CB8AC3E}">
        <p14:creationId xmlns:p14="http://schemas.microsoft.com/office/powerpoint/2010/main" val="131926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767C-7402-B18E-EC93-3FEDFD6A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438"/>
          </a:xfrm>
        </p:spPr>
        <p:txBody>
          <a:bodyPr>
            <a:normAutofit/>
          </a:bodyPr>
          <a:lstStyle/>
          <a:p>
            <a:r>
              <a:rPr lang="en-IN" sz="36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42A57-32D9-EA62-DEA7-4E7C3BAB4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163"/>
            <a:ext cx="10515600" cy="4876800"/>
          </a:xfrm>
        </p:spPr>
        <p:txBody>
          <a:bodyPr/>
          <a:lstStyle/>
          <a:p>
            <a:r>
              <a:rPr lang="en-IN" dirty="0"/>
              <a:t>The Advanced Scientific Calculator is a Python-based desktop application developed using </a:t>
            </a:r>
            <a:r>
              <a:rPr lang="en-IN" dirty="0" err="1"/>
              <a:t>Tkinter</a:t>
            </a:r>
            <a:r>
              <a:rPr lang="en-IN" dirty="0"/>
              <a:t>.</a:t>
            </a:r>
          </a:p>
          <a:p>
            <a:r>
              <a:rPr lang="en-IN" dirty="0"/>
              <a:t>The application provides a modern graphical interface and combines several types of calculations in one application.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Main modes</a:t>
            </a:r>
          </a:p>
          <a:p>
            <a:pPr lvl="0"/>
            <a:r>
              <a:rPr lang="en-IN" dirty="0"/>
              <a:t>Basic Calculator </a:t>
            </a:r>
          </a:p>
          <a:p>
            <a:pPr lvl="0"/>
            <a:r>
              <a:rPr lang="en-IN" dirty="0"/>
              <a:t>Scientific Calculator </a:t>
            </a:r>
          </a:p>
          <a:p>
            <a:pPr lvl="0"/>
            <a:r>
              <a:rPr lang="en-IN" dirty="0"/>
              <a:t>Statistics Mode </a:t>
            </a:r>
          </a:p>
          <a:p>
            <a:pPr lvl="0"/>
            <a:r>
              <a:rPr lang="en-IN" dirty="0"/>
              <a:t>Programmer Mode </a:t>
            </a:r>
          </a:p>
          <a:p>
            <a:pPr lvl="0"/>
            <a:r>
              <a:rPr lang="en-IN" dirty="0"/>
              <a:t>Graph Plotting Mode</a:t>
            </a:r>
          </a:p>
        </p:txBody>
      </p:sp>
    </p:spTree>
    <p:extLst>
      <p:ext uri="{BB962C8B-B14F-4D97-AF65-F5344CB8AC3E}">
        <p14:creationId xmlns:p14="http://schemas.microsoft.com/office/powerpoint/2010/main" val="1632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29AB-CDDF-A297-842C-265EF822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D8D7-8E73-8F81-E55C-3275323A8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Develop a functional desktop calculator using Python.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Create a user-friendly graphical interface.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Implement scientific mathematical operations.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Add statistical calculations.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Add programmer-oriented calculations.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Add mathematical graph plotting.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Implement memory and calculation history.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Support keyboard interaction.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Provide Light and Dark themes.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Develop a modular and maintainable project.</a:t>
            </a:r>
          </a:p>
        </p:txBody>
      </p:sp>
    </p:spTree>
    <p:extLst>
      <p:ext uri="{BB962C8B-B14F-4D97-AF65-F5344CB8AC3E}">
        <p14:creationId xmlns:p14="http://schemas.microsoft.com/office/powerpoint/2010/main" val="87331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9667-E732-7445-C8F8-FF707322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/>
          </a:bodyPr>
          <a:lstStyle/>
          <a:p>
            <a:r>
              <a:rPr lang="en-IN" sz="3600" dirty="0"/>
              <a:t>Technologies &amp;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D86CCF-144E-3F57-55AC-CD881F20DE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060808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493897368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49528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508084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 Programming Language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279260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Tkinter</a:t>
                      </a:r>
                      <a:endParaRPr lang="en-IN" dirty="0"/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Graphical User Interface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278308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Math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Scientific calculations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303092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Statistics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Statistical Calculations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129267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Numpy</a:t>
                      </a:r>
                      <a:endParaRPr lang="en-IN" dirty="0"/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Processing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302715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Matplotlib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Graph Plotting</a:t>
                      </a:r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1948648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VS Code</a:t>
                      </a:r>
                    </a:p>
                  </a:txBody>
                  <a:tcPr marL="77801" marR="7780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Development </a:t>
                      </a:r>
                      <a:r>
                        <a:rPr lang="en-IN" dirty="0" err="1"/>
                        <a:t>enviornment</a:t>
                      </a:r>
                      <a:endParaRPr lang="en-IN" dirty="0"/>
                    </a:p>
                  </a:txBody>
                  <a:tcPr marL="77801" marR="77801"/>
                </a:tc>
                <a:extLst>
                  <a:ext uri="{0D108BD9-81ED-4DB2-BD59-A6C34878D82A}">
                    <a16:rowId xmlns:a16="http://schemas.microsoft.com/office/drawing/2014/main" val="154569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60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A388-159D-E356-5E3B-23663AD1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288"/>
          </a:xfrm>
        </p:spPr>
        <p:txBody>
          <a:bodyPr>
            <a:normAutofit/>
          </a:bodyPr>
          <a:lstStyle/>
          <a:p>
            <a:r>
              <a:rPr lang="en-IN" sz="3600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3FF84-7BBB-C4E9-8955-A6EBA6CE2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71575"/>
            <a:ext cx="5181600" cy="50053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Scientific Calculator</a:t>
            </a:r>
          </a:p>
          <a:p>
            <a:pPr lvl="0"/>
            <a:r>
              <a:rPr lang="en-IN" dirty="0"/>
              <a:t>Arithmetic operations </a:t>
            </a:r>
          </a:p>
          <a:p>
            <a:pPr lvl="0"/>
            <a:r>
              <a:rPr lang="en-IN" dirty="0"/>
              <a:t>Trigonometric functions </a:t>
            </a:r>
          </a:p>
          <a:p>
            <a:pPr lvl="0"/>
            <a:r>
              <a:rPr lang="en-IN" dirty="0"/>
              <a:t>Logarithms </a:t>
            </a:r>
          </a:p>
          <a:p>
            <a:pPr lvl="0"/>
            <a:r>
              <a:rPr lang="en-IN" dirty="0"/>
              <a:t>Square root </a:t>
            </a:r>
          </a:p>
          <a:p>
            <a:pPr lvl="0"/>
            <a:r>
              <a:rPr lang="en-IN" dirty="0"/>
              <a:t>Factorial </a:t>
            </a:r>
          </a:p>
          <a:p>
            <a:pPr lvl="0"/>
            <a:r>
              <a:rPr lang="en-IN" dirty="0"/>
              <a:t>Powers </a:t>
            </a:r>
          </a:p>
          <a:p>
            <a:pPr lvl="0"/>
            <a:r>
              <a:rPr lang="en-IN" dirty="0"/>
              <a:t>DEG/RAD modes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47403-BB24-D52F-D557-B6D6909E9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1575"/>
            <a:ext cx="5181600" cy="50053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Statistics</a:t>
            </a:r>
          </a:p>
          <a:p>
            <a:pPr lvl="0"/>
            <a:r>
              <a:rPr lang="en-IN" dirty="0"/>
              <a:t>Mean </a:t>
            </a:r>
          </a:p>
          <a:p>
            <a:pPr lvl="0"/>
            <a:r>
              <a:rPr lang="en-IN" dirty="0"/>
              <a:t>Median </a:t>
            </a:r>
          </a:p>
          <a:p>
            <a:pPr lvl="0"/>
            <a:r>
              <a:rPr lang="en-IN" dirty="0"/>
              <a:t>Mode </a:t>
            </a:r>
          </a:p>
          <a:p>
            <a:pPr lvl="0"/>
            <a:r>
              <a:rPr lang="en-IN" dirty="0"/>
              <a:t>Range </a:t>
            </a:r>
          </a:p>
          <a:p>
            <a:pPr lvl="0"/>
            <a:r>
              <a:rPr lang="en-IN" dirty="0"/>
              <a:t>Population variance </a:t>
            </a:r>
          </a:p>
          <a:p>
            <a:pPr lvl="0"/>
            <a:r>
              <a:rPr lang="en-IN" dirty="0"/>
              <a:t>Population standard deviation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20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E881-A257-4F1B-7F00-28A7C656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r"/>
            <a:r>
              <a:rPr lang="en-IN" sz="1400" dirty="0" err="1"/>
              <a:t>Cont</a:t>
            </a:r>
            <a:r>
              <a:rPr lang="en-IN" sz="1400" dirty="0"/>
              <a:t>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F1B7-4FDC-7891-899B-F59AFD614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57263"/>
            <a:ext cx="5181600" cy="52197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Programmer Mode</a:t>
            </a:r>
          </a:p>
          <a:p>
            <a:pPr lvl="0"/>
            <a:r>
              <a:rPr lang="en-IN" dirty="0"/>
              <a:t>Decimal </a:t>
            </a:r>
          </a:p>
          <a:p>
            <a:pPr lvl="0"/>
            <a:r>
              <a:rPr lang="en-IN" dirty="0"/>
              <a:t>Binary </a:t>
            </a:r>
          </a:p>
          <a:p>
            <a:pPr lvl="0"/>
            <a:r>
              <a:rPr lang="en-IN" dirty="0"/>
              <a:t>Octal </a:t>
            </a:r>
          </a:p>
          <a:p>
            <a:pPr lvl="0"/>
            <a:r>
              <a:rPr lang="en-IN" dirty="0"/>
              <a:t>Hexadecimal </a:t>
            </a:r>
          </a:p>
          <a:p>
            <a:pPr lvl="0"/>
            <a:r>
              <a:rPr lang="en-IN" dirty="0"/>
              <a:t>Bitwise operations </a:t>
            </a:r>
          </a:p>
          <a:p>
            <a:pPr lvl="0"/>
            <a:r>
              <a:rPr lang="en-IN" dirty="0"/>
              <a:t>Shift operations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77993-D82A-1F53-5D78-7D1C9747E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57263"/>
            <a:ext cx="5181600" cy="52197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Graph Plotting</a:t>
            </a:r>
          </a:p>
          <a:p>
            <a:pPr lvl="0"/>
            <a:r>
              <a:rPr lang="en-IN" dirty="0"/>
              <a:t>Mathematical functions </a:t>
            </a:r>
          </a:p>
          <a:p>
            <a:pPr lvl="0"/>
            <a:r>
              <a:rPr lang="en-IN" dirty="0"/>
              <a:t>Custom X/Y ranges </a:t>
            </a:r>
          </a:p>
          <a:p>
            <a:pPr lvl="0"/>
            <a:r>
              <a:rPr lang="en-IN" dirty="0"/>
              <a:t>Multiple functions </a:t>
            </a:r>
          </a:p>
          <a:p>
            <a:pPr lvl="0"/>
            <a:r>
              <a:rPr lang="en-IN" dirty="0"/>
              <a:t>Grid </a:t>
            </a:r>
          </a:p>
          <a:p>
            <a:pPr lvl="0"/>
            <a:r>
              <a:rPr lang="en-IN" dirty="0"/>
              <a:t>Reset and Clear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53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6B14-710E-886E-51B6-A6F6A54D3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User Interface</a:t>
            </a:r>
            <a:br>
              <a:rPr lang="en-IN" sz="3600" b="1" dirty="0"/>
            </a:br>
            <a:r>
              <a:rPr lang="en-IN" sz="3600" b="1" dirty="0"/>
              <a:t>Graphical User Interface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7409-4C37-9D29-53BC-1649EC9E6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application provides:</a:t>
            </a:r>
          </a:p>
          <a:p>
            <a:pPr lvl="0"/>
            <a:r>
              <a:rPr lang="en-IN" dirty="0"/>
              <a:t>Modern calculator layout </a:t>
            </a:r>
          </a:p>
          <a:p>
            <a:pPr lvl="0"/>
            <a:r>
              <a:rPr lang="en-IN" dirty="0"/>
              <a:t>Expression display </a:t>
            </a:r>
          </a:p>
          <a:p>
            <a:pPr lvl="0"/>
            <a:r>
              <a:rPr lang="en-IN" dirty="0"/>
              <a:t>Calculation history </a:t>
            </a:r>
          </a:p>
          <a:p>
            <a:pPr lvl="0"/>
            <a:r>
              <a:rPr lang="en-IN" dirty="0"/>
              <a:t>Memory controls </a:t>
            </a:r>
          </a:p>
          <a:p>
            <a:pPr lvl="0"/>
            <a:r>
              <a:rPr lang="en-IN" dirty="0"/>
              <a:t>Status messages </a:t>
            </a:r>
          </a:p>
          <a:p>
            <a:pPr lvl="0"/>
            <a:r>
              <a:rPr lang="en-IN" dirty="0"/>
              <a:t>Keyboard support </a:t>
            </a:r>
          </a:p>
          <a:p>
            <a:pPr lvl="0"/>
            <a:r>
              <a:rPr lang="en-IN" dirty="0"/>
              <a:t>Light/Dark theme </a:t>
            </a:r>
          </a:p>
          <a:p>
            <a:pPr lvl="0"/>
            <a:r>
              <a:rPr lang="en-IN" dirty="0"/>
              <a:t>Separate windows for advanced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66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097BD0-8343-A551-B2C8-85E6F5ECE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26" y="828675"/>
            <a:ext cx="8558212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3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1A1B-3665-93C0-FE31-7316F03E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>
            <a:normAutofit/>
          </a:bodyPr>
          <a:lstStyle/>
          <a:p>
            <a:r>
              <a:rPr lang="en-IN" sz="3600" dirty="0"/>
              <a:t>Programmer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06FB2-7AA4-8843-E094-A7D682B2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850"/>
            <a:ext cx="10515600" cy="5091113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Programmer Mode provides number-system and bitwise operations.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2400" dirty="0"/>
              <a:t>Decimal:255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2400" dirty="0"/>
              <a:t>Binary:11111111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2400" dirty="0"/>
              <a:t>Octal:377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2400" dirty="0"/>
              <a:t>Hexadecimal: FF</a:t>
            </a:r>
          </a:p>
          <a:p>
            <a:r>
              <a:rPr lang="en-IN" sz="2400" dirty="0"/>
              <a:t>It also supports operations such as: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AND 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OR 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XOR 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NOT 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Left Shift </a:t>
            </a:r>
          </a:p>
          <a:p>
            <a:pPr marL="514350" lvl="0" indent="-514350">
              <a:buFont typeface="+mj-lt"/>
              <a:buAutoNum type="romanUcPeriod"/>
            </a:pPr>
            <a:r>
              <a:rPr lang="en-IN" sz="2400" dirty="0"/>
              <a:t>Right Shift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C4CFD-D8B6-35C8-57CF-D102B36F4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99944"/>
            <a:ext cx="6000750" cy="417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4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411E-5F85-1617-CF62-3C7082CA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/>
          </a:bodyPr>
          <a:lstStyle/>
          <a:p>
            <a:r>
              <a:rPr lang="en-IN" sz="2400" dirty="0"/>
              <a:t>Graph Plotting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033BA-2FC9-B2A9-4226-B56ED3885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013"/>
            <a:ext cx="10515600" cy="49339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graphing module uses </a:t>
            </a:r>
            <a:r>
              <a:rPr lang="en-IN" b="1" dirty="0"/>
              <a:t>NumPy and Matplotlib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Users can enter mathematical functions such as:</a:t>
            </a:r>
          </a:p>
          <a:p>
            <a:r>
              <a:rPr lang="en-IN" dirty="0"/>
              <a:t>x^2 sin(x) cos(x) x^3 + 2*x sqrt(x)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module provides: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X range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Y range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Plot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Clear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Reset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Grid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DEG/RAD mode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Multiple functions on one graph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CA03E-E27B-13A2-51BF-91A3B289F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2" y="2004752"/>
            <a:ext cx="6310783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3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D7D3-F79D-2204-7CDA-3E604A93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288"/>
          </a:xfrm>
        </p:spPr>
        <p:txBody>
          <a:bodyPr>
            <a:normAutofit fontScale="90000"/>
          </a:bodyPr>
          <a:lstStyle/>
          <a:p>
            <a:r>
              <a:rPr lang="en-IN" sz="3700" dirty="0"/>
              <a:t>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E16DD-4087-7200-6CCA-C75851AF9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414"/>
            <a:ext cx="10515600" cy="5162549"/>
          </a:xfrm>
        </p:spPr>
        <p:txBody>
          <a:bodyPr/>
          <a:lstStyle/>
          <a:p>
            <a:r>
              <a:rPr lang="en-IN" dirty="0"/>
              <a:t>Project3.Calculator/</a:t>
            </a:r>
          </a:p>
          <a:p>
            <a:r>
              <a:rPr lang="en-IN" dirty="0"/>
              <a:t>├── Advance_Calculator.py</a:t>
            </a:r>
          </a:p>
          <a:p>
            <a:r>
              <a:rPr lang="en-IN" dirty="0"/>
              <a:t>├── calcy.py</a:t>
            </a:r>
          </a:p>
          <a:p>
            <a:r>
              <a:rPr lang="en-IN" dirty="0"/>
              <a:t>├── programmer_mode.py</a:t>
            </a:r>
          </a:p>
          <a:p>
            <a:r>
              <a:rPr lang="en-IN" dirty="0"/>
              <a:t>├── graph_mode.py</a:t>
            </a:r>
          </a:p>
          <a:p>
            <a:r>
              <a:rPr lang="en-IN" dirty="0"/>
              <a:t>├── </a:t>
            </a:r>
            <a:r>
              <a:rPr lang="en-IN" dirty="0" err="1"/>
              <a:t>demo.ipynb</a:t>
            </a:r>
            <a:endParaRPr lang="en-IN" dirty="0"/>
          </a:p>
          <a:p>
            <a:r>
              <a:rPr lang="en-IN" dirty="0"/>
              <a:t>├── demo.txt</a:t>
            </a:r>
          </a:p>
          <a:p>
            <a:r>
              <a:rPr lang="en-IN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2400348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0A4C-04E3-667E-6ED5-65730303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pPr algn="r"/>
            <a:r>
              <a:rPr lang="en-IN" sz="1800" dirty="0" err="1"/>
              <a:t>Cont</a:t>
            </a:r>
            <a:r>
              <a:rPr lang="en-IN" sz="1800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06459-4DE3-397B-65F4-9A34F710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1538"/>
            <a:ext cx="10515600" cy="53054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Module Responsibilities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Advance_Calculator.py</a:t>
            </a:r>
            <a:br>
              <a:rPr lang="en-IN" dirty="0"/>
            </a:br>
            <a:r>
              <a:rPr lang="en-IN" dirty="0"/>
              <a:t>Main Advanced Scientific Calculator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calcy.py</a:t>
            </a:r>
            <a:br>
              <a:rPr lang="en-IN" dirty="0"/>
            </a:br>
            <a:r>
              <a:rPr lang="en-IN" dirty="0"/>
              <a:t>Basic Calculator / launcher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programmer_mode.py</a:t>
            </a:r>
            <a:br>
              <a:rPr lang="en-IN" dirty="0"/>
            </a:br>
            <a:r>
              <a:rPr lang="en-IN" dirty="0"/>
              <a:t>Programmer calculations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graph_mode.py</a:t>
            </a:r>
            <a:br>
              <a:rPr lang="en-IN" dirty="0"/>
            </a:br>
            <a:r>
              <a:rPr lang="en-IN" dirty="0"/>
              <a:t>Graph plotting functionality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README.md</a:t>
            </a:r>
            <a:br>
              <a:rPr lang="en-IN" dirty="0"/>
            </a:br>
            <a:r>
              <a:rPr lang="en-IN" dirty="0"/>
              <a:t>Project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037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2449-EDEA-697E-8DFB-67D55D46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en-IN" sz="3800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C37D3-6ECE-C029-178F-69A2C7BF5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57250"/>
            <a:ext cx="5181600" cy="53197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Calculator Testing</a:t>
            </a:r>
          </a:p>
          <a:p>
            <a:pPr lvl="0"/>
            <a:r>
              <a:rPr lang="en-IN" dirty="0"/>
              <a:t>Addition </a:t>
            </a:r>
          </a:p>
          <a:p>
            <a:pPr lvl="0"/>
            <a:r>
              <a:rPr lang="en-IN" dirty="0"/>
              <a:t>Subtraction </a:t>
            </a:r>
          </a:p>
          <a:p>
            <a:pPr lvl="0"/>
            <a:r>
              <a:rPr lang="en-IN" dirty="0"/>
              <a:t>Multiplication </a:t>
            </a:r>
          </a:p>
          <a:p>
            <a:pPr lvl="0"/>
            <a:r>
              <a:rPr lang="en-IN" dirty="0"/>
              <a:t>Division </a:t>
            </a:r>
          </a:p>
          <a:p>
            <a:pPr lvl="0"/>
            <a:r>
              <a:rPr lang="en-IN" dirty="0"/>
              <a:t>Scientific functions </a:t>
            </a:r>
          </a:p>
          <a:p>
            <a:pPr lvl="0"/>
            <a:r>
              <a:rPr lang="en-IN" dirty="0"/>
              <a:t>Memory operations </a:t>
            </a:r>
          </a:p>
          <a:p>
            <a:pPr lvl="0"/>
            <a:r>
              <a:rPr lang="en-IN" dirty="0"/>
              <a:t>History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Graph Testing</a:t>
            </a:r>
          </a:p>
          <a:p>
            <a:pPr lvl="0"/>
            <a:r>
              <a:rPr lang="en-IN" dirty="0"/>
              <a:t>x² </a:t>
            </a:r>
          </a:p>
          <a:p>
            <a:pPr lvl="0"/>
            <a:r>
              <a:rPr lang="en-IN" dirty="0"/>
              <a:t>sin(x) </a:t>
            </a:r>
          </a:p>
          <a:p>
            <a:pPr lvl="0"/>
            <a:r>
              <a:rPr lang="en-IN" dirty="0"/>
              <a:t>cos(x) </a:t>
            </a:r>
          </a:p>
          <a:p>
            <a:pPr lvl="0"/>
            <a:r>
              <a:rPr lang="en-IN" dirty="0"/>
              <a:t>Multiple functions </a:t>
            </a:r>
          </a:p>
          <a:p>
            <a:pPr lvl="0"/>
            <a:r>
              <a:rPr lang="en-IN" dirty="0"/>
              <a:t>Custom graph ranges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6028F-40C6-9175-9051-52539002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57250"/>
            <a:ext cx="5181600" cy="53197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Statistics Testing</a:t>
            </a:r>
          </a:p>
          <a:p>
            <a:pPr lvl="0"/>
            <a:r>
              <a:rPr lang="en-IN" dirty="0"/>
              <a:t>Mean </a:t>
            </a:r>
          </a:p>
          <a:p>
            <a:pPr lvl="0"/>
            <a:r>
              <a:rPr lang="en-IN" dirty="0"/>
              <a:t>Median </a:t>
            </a:r>
          </a:p>
          <a:p>
            <a:pPr lvl="0"/>
            <a:r>
              <a:rPr lang="en-IN" dirty="0"/>
              <a:t>Mode </a:t>
            </a:r>
          </a:p>
          <a:p>
            <a:pPr lvl="0"/>
            <a:r>
              <a:rPr lang="en-IN" dirty="0"/>
              <a:t>Variance </a:t>
            </a:r>
          </a:p>
          <a:p>
            <a:pPr lvl="0"/>
            <a:r>
              <a:rPr lang="en-IN" dirty="0"/>
              <a:t>Standard deviation</a:t>
            </a:r>
          </a:p>
          <a:p>
            <a:pPr lvl="0"/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Programmer Testing</a:t>
            </a:r>
          </a:p>
          <a:p>
            <a:pPr lvl="0"/>
            <a:r>
              <a:rPr lang="en-IN" dirty="0"/>
              <a:t>Number conversions </a:t>
            </a:r>
          </a:p>
          <a:p>
            <a:pPr lvl="0"/>
            <a:r>
              <a:rPr lang="en-IN" dirty="0"/>
              <a:t>Bitwise operations </a:t>
            </a:r>
          </a:p>
          <a:p>
            <a:pPr lvl="0"/>
            <a:r>
              <a:rPr lang="en-IN" dirty="0"/>
              <a:t>Shift operations</a:t>
            </a:r>
          </a:p>
          <a:p>
            <a:pPr marL="0" lv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Result: All implemented features were tested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00637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9839-A54F-F000-E892-F8209A98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05F08-7A22-A3F2-C216-8B305E2A9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264"/>
            <a:ext cx="10515600" cy="5219699"/>
          </a:xfrm>
        </p:spPr>
        <p:txBody>
          <a:bodyPr>
            <a:normAutofit/>
          </a:bodyPr>
          <a:lstStyle/>
          <a:p>
            <a:r>
              <a:rPr lang="en-IN"/>
              <a:t>Possible future improvements include:</a:t>
            </a:r>
          </a:p>
          <a:p>
            <a:pPr lvl="0"/>
            <a:r>
              <a:rPr lang="en-IN"/>
              <a:t>Matrix calculations </a:t>
            </a:r>
          </a:p>
          <a:p>
            <a:pPr lvl="0"/>
            <a:r>
              <a:rPr lang="en-IN"/>
              <a:t>Complex-number calculations </a:t>
            </a:r>
          </a:p>
          <a:p>
            <a:pPr lvl="0"/>
            <a:r>
              <a:rPr lang="en-IN"/>
              <a:t>Equation solving </a:t>
            </a:r>
          </a:p>
          <a:p>
            <a:pPr lvl="0"/>
            <a:r>
              <a:rPr lang="en-IN"/>
              <a:t>Derivatives and integration </a:t>
            </a:r>
          </a:p>
          <a:p>
            <a:pPr lvl="0"/>
            <a:r>
              <a:rPr lang="en-IN"/>
              <a:t>Advanced graph analysis </a:t>
            </a:r>
          </a:p>
          <a:p>
            <a:pPr lvl="0"/>
            <a:r>
              <a:rPr lang="en-IN"/>
              <a:t>Graph export </a:t>
            </a:r>
          </a:p>
          <a:p>
            <a:pPr lvl="0"/>
            <a:r>
              <a:rPr lang="en-IN"/>
              <a:t>Calculation history export </a:t>
            </a:r>
          </a:p>
          <a:p>
            <a:pPr lvl="0"/>
            <a:r>
              <a:rPr lang="en-IN"/>
              <a:t>Unit conversion </a:t>
            </a:r>
          </a:p>
          <a:p>
            <a:pPr lvl="0"/>
            <a:r>
              <a:rPr lang="en-IN"/>
              <a:t>More programmer functions </a:t>
            </a:r>
          </a:p>
          <a:p>
            <a:pPr lvl="0"/>
            <a:r>
              <a:rPr lang="en-IN"/>
              <a:t>Additional themes </a:t>
            </a:r>
          </a:p>
          <a:p>
            <a:pPr lvl="0"/>
            <a:r>
              <a:rPr lang="en-IN"/>
              <a:t>Improved keyboard shortcuts</a:t>
            </a:r>
          </a:p>
        </p:txBody>
      </p:sp>
    </p:spTree>
    <p:extLst>
      <p:ext uri="{BB962C8B-B14F-4D97-AF65-F5344CB8AC3E}">
        <p14:creationId xmlns:p14="http://schemas.microsoft.com/office/powerpoint/2010/main" val="46185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3E74-5ED8-52B7-E587-26D4BB91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IN" sz="3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AFCD-B38F-EA7A-3A32-E660CF1C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264"/>
            <a:ext cx="10515600" cy="5219699"/>
          </a:xfrm>
        </p:spPr>
        <p:txBody>
          <a:bodyPr>
            <a:normAutofit/>
          </a:bodyPr>
          <a:lstStyle/>
          <a:p>
            <a:r>
              <a:rPr lang="en-IN" dirty="0"/>
              <a:t>The Advanced Scientific Calculator demonstrates the practical use of Python for developing a complete desktop application.</a:t>
            </a:r>
          </a:p>
          <a:p>
            <a:r>
              <a:rPr lang="en-IN" dirty="0"/>
              <a:t>The project combines:</a:t>
            </a:r>
          </a:p>
          <a:p>
            <a:r>
              <a:rPr lang="en-IN" b="1" dirty="0"/>
              <a:t>Python + </a:t>
            </a:r>
            <a:r>
              <a:rPr lang="en-IN" b="1" dirty="0" err="1"/>
              <a:t>Tkinter</a:t>
            </a:r>
            <a:r>
              <a:rPr lang="en-IN" b="1" dirty="0"/>
              <a:t> + NumPy + Matplotlib </a:t>
            </a:r>
            <a:r>
              <a:rPr lang="en-IN" dirty="0"/>
              <a:t>into a single application that provides:</a:t>
            </a:r>
          </a:p>
          <a:p>
            <a:pPr lvl="0"/>
            <a:r>
              <a:rPr lang="en-IN" dirty="0"/>
              <a:t>Scientific calculations </a:t>
            </a:r>
          </a:p>
          <a:p>
            <a:pPr lvl="0"/>
            <a:r>
              <a:rPr lang="en-IN" dirty="0"/>
              <a:t>Statistical analysis </a:t>
            </a:r>
          </a:p>
          <a:p>
            <a:pPr lvl="0"/>
            <a:r>
              <a:rPr lang="en-IN" dirty="0"/>
              <a:t>Programmer calculations </a:t>
            </a:r>
          </a:p>
          <a:p>
            <a:pPr lvl="0"/>
            <a:r>
              <a:rPr lang="en-IN" dirty="0"/>
              <a:t>Graph visualization </a:t>
            </a:r>
          </a:p>
          <a:p>
            <a:pPr lvl="0"/>
            <a:r>
              <a:rPr lang="en-IN" dirty="0"/>
              <a:t>Memory and history </a:t>
            </a:r>
          </a:p>
          <a:p>
            <a:pPr lvl="0"/>
            <a:r>
              <a:rPr lang="en-IN" dirty="0"/>
              <a:t>Modern GUI features </a:t>
            </a:r>
          </a:p>
          <a:p>
            <a:r>
              <a:rPr lang="en-IN" dirty="0"/>
              <a:t>The project also provided practical experience in </a:t>
            </a:r>
            <a:r>
              <a:rPr lang="en-IN" b="1" dirty="0"/>
              <a:t>GUI development, modular programming, mathematical computation, external libraries, testing, and project documentation.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038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581</Words>
  <Application>Microsoft Office PowerPoint</Application>
  <PresentationFormat>Widescreen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Wingdings</vt:lpstr>
      <vt:lpstr>Wingdings 3</vt:lpstr>
      <vt:lpstr>Ion</vt:lpstr>
      <vt:lpstr>ADVANCED SCIENTIFIC CALCULATOR</vt:lpstr>
      <vt:lpstr>Introduction</vt:lpstr>
      <vt:lpstr>Objectives</vt:lpstr>
      <vt:lpstr>Technologies &amp; Tools</vt:lpstr>
      <vt:lpstr>Main Features</vt:lpstr>
      <vt:lpstr>Cont…..</vt:lpstr>
      <vt:lpstr>User Interface Graphical User Interface</vt:lpstr>
      <vt:lpstr>PowerPoint Presentation</vt:lpstr>
      <vt:lpstr>Programmer Mode</vt:lpstr>
      <vt:lpstr>Graph Plotting Mode</vt:lpstr>
      <vt:lpstr>Project Structure</vt:lpstr>
      <vt:lpstr>Cont….</vt:lpstr>
      <vt:lpstr>Testing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 Upadhyay</dc:creator>
  <cp:lastModifiedBy>Neelam Upadhyay</cp:lastModifiedBy>
  <cp:revision>3</cp:revision>
  <dcterms:created xsi:type="dcterms:W3CDTF">2026-08-23T10:19:29Z</dcterms:created>
  <dcterms:modified xsi:type="dcterms:W3CDTF">2026-08-23T11:00:16Z</dcterms:modified>
</cp:coreProperties>
</file>